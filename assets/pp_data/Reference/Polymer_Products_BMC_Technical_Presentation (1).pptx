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0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255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Aptos Display"/>
              </a:rPr>
              <a:t>POLYMER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54680"/>
            <a:ext cx="10332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DCE6F0"/>
                </a:solidFill>
                <a:latin typeface="Aptos"/>
              </a:rPr>
              <a:t>Technical Presentation for Source Approval – Elastomeric Bearings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0916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>
                <a:solidFill>
                  <a:srgbClr val="FFFFFF"/>
                </a:solidFill>
              </a:rPr>
              <a:t>Proposed Bearing Vendor – BMC / Coastal Road Project North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Presentation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37D"/>
                </a:solidFill>
                <a:latin typeface="Aptos"/>
              </a:rPr>
              <a:t>POLYMER PRODUCTS  |  Technical Presentation  | 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B32"/>
                </a:solidFill>
                <a:latin typeface="Aptos"/>
              </a:defRPr>
            </a:pPr>
            <a:r>
              <a:t>• Company profile and experience</a:t>
            </a:r>
          </a:p>
          <a:p>
            <a:pPr>
              <a:spcAft>
                <a:spcPts val="1000"/>
              </a:spcAft>
              <a:defRPr sz="2100">
                <a:solidFill>
                  <a:srgbClr val="232B32"/>
                </a:solidFill>
                <a:latin typeface="Aptos"/>
              </a:defRPr>
            </a:pPr>
            <a:r>
              <a:t>• Elastomeric bearing product and application</a:t>
            </a:r>
          </a:p>
          <a:p>
            <a:pPr>
              <a:spcAft>
                <a:spcPts val="1000"/>
              </a:spcAft>
              <a:defRPr sz="2100">
                <a:solidFill>
                  <a:srgbClr val="232B32"/>
                </a:solidFill>
                <a:latin typeface="Aptos"/>
              </a:defRPr>
            </a:pPr>
            <a:r>
              <a:t>• Applicable standards and approvals</a:t>
            </a:r>
          </a:p>
          <a:p>
            <a:pPr>
              <a:spcAft>
                <a:spcPts val="1000"/>
              </a:spcAft>
              <a:defRPr sz="2100">
                <a:solidFill>
                  <a:srgbClr val="232B32"/>
                </a:solidFill>
                <a:latin typeface="Aptos"/>
              </a:defRPr>
            </a:pPr>
            <a:r>
              <a:t>• Manufacturing process and materials</a:t>
            </a:r>
          </a:p>
          <a:p>
            <a:pPr>
              <a:spcAft>
                <a:spcPts val="1000"/>
              </a:spcAft>
              <a:defRPr sz="2100">
                <a:solidFill>
                  <a:srgbClr val="232B32"/>
                </a:solidFill>
                <a:latin typeface="Aptos"/>
              </a:defRPr>
            </a:pPr>
            <a:r>
              <a:t>• Plant, machinery and testing facilities</a:t>
            </a:r>
          </a:p>
          <a:p>
            <a:pPr>
              <a:spcAft>
                <a:spcPts val="1000"/>
              </a:spcAft>
              <a:defRPr sz="2100">
                <a:solidFill>
                  <a:srgbClr val="232B32"/>
                </a:solidFill>
                <a:latin typeface="Aptos"/>
              </a:defRPr>
            </a:pPr>
            <a:r>
              <a:t>• Quality assurance / quality control system</a:t>
            </a:r>
          </a:p>
          <a:p>
            <a:pPr>
              <a:spcAft>
                <a:spcPts val="1000"/>
              </a:spcAft>
              <a:defRPr sz="2100">
                <a:solidFill>
                  <a:srgbClr val="232B32"/>
                </a:solidFill>
                <a:latin typeface="Aptos"/>
              </a:defRPr>
            </a:pPr>
            <a:r>
              <a:t>• Traceability, inspection and testing</a:t>
            </a:r>
          </a:p>
          <a:p>
            <a:pPr>
              <a:spcAft>
                <a:spcPts val="1000"/>
              </a:spcAft>
              <a:defRPr sz="2100">
                <a:solidFill>
                  <a:srgbClr val="232B32"/>
                </a:solidFill>
                <a:latin typeface="Aptos"/>
              </a:defRPr>
            </a:pPr>
            <a:r>
              <a:t>• Major project experience and client credentials</a:t>
            </a:r>
          </a:p>
          <a:p>
            <a:pPr>
              <a:spcAft>
                <a:spcPts val="1000"/>
              </a:spcAft>
              <a:defRPr sz="2100">
                <a:solidFill>
                  <a:srgbClr val="232B32"/>
                </a:solidFill>
                <a:latin typeface="Aptos"/>
              </a:defRPr>
            </a:pPr>
            <a:r>
              <a:t>• Storage, transportation and installation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Company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37D"/>
                </a:solidFill>
                <a:latin typeface="Aptos"/>
              </a:rPr>
              <a:t>POLYMER PRODUCTS  |  Technical Presentation  | 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51560"/>
            <a:ext cx="5394960" cy="5074920"/>
          </a:xfrm>
          <a:prstGeom prst="roundRect">
            <a:avLst/>
          </a:prstGeom>
          <a:solidFill>
            <a:srgbClr val="F2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2618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55B8B"/>
                </a:solidFill>
              </a:rPr>
              <a:t>Company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48006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Polymer Products is presented as a bridge-bearing supplier in the civil engineering industry.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Elastomeric bearings are manufactured at the Nashik manufacturing and testing facility.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Operations are managed by an experienced Rubber Technologist with engineers, chemists and supervisory staff.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The credential document describes more than three decades of elastomeric bearing and seismic pad supply experience.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51560"/>
            <a:ext cx="5394960" cy="5074920"/>
          </a:xfrm>
          <a:prstGeom prst="roundRect">
            <a:avLst/>
          </a:prstGeom>
          <a:solidFill>
            <a:srgbClr val="F2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2618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55B8B"/>
                </a:solidFill>
              </a:rPr>
              <a:t>Group &amp; Technical Background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006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Dynamic Group is described as a 45-year-old established Indian company.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Experience includes design, manufacturing, supply and installation of Elastomeric and POT-PTFE bridge bearings.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Supplies have included Indian Railways, National Highways, PWDs, Metros and irrigation projects.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The document states supply in accordance with Indian and international standards.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Locations &amp; 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37D"/>
                </a:solidFill>
                <a:latin typeface="Aptos"/>
              </a:rPr>
              <a:t>POLYMER PRODUCTS  |  Technical Presentation  | 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51560"/>
            <a:ext cx="5394960" cy="5074920"/>
          </a:xfrm>
          <a:prstGeom prst="roundRect">
            <a:avLst/>
          </a:prstGeom>
          <a:solidFill>
            <a:srgbClr val="F2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2618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55B8B"/>
                </a:solidFill>
              </a:rPr>
              <a:t>Corporate Office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48006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72, Mahavir Centre, Sector-17, Vashi, Navi Mumbai – 400 705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Tel.: (022) 27892628 / 27891310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Email: polymerproducts09@gmail.com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Email: polymerproduct@rediffmail.com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Website shown in credential: dynamicprestress.com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51560"/>
            <a:ext cx="5394960" cy="5074920"/>
          </a:xfrm>
          <a:prstGeom prst="roundRect">
            <a:avLst/>
          </a:prstGeom>
          <a:solidFill>
            <a:srgbClr val="F2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2618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55B8B"/>
                </a:solidFill>
              </a:rPr>
              <a:t>Works / Manufacturing Facility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006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H-32, M.I.D.C., Satpur, Nashik – 422 007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Telefax: (0253) 2350935, 6604461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Manufacturing and testing of elastomeric bearings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Facility supported by in-house testing equipment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Testing is described as being carried out in presence of client / inspecting representatives where applicable.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Product: Elastomeric / Neoprene Bearings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37D"/>
                </a:solidFill>
                <a:latin typeface="Aptos"/>
              </a:rPr>
              <a:t>POLYMER PRODUCTS  |  Technical Presentation  | 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51560"/>
            <a:ext cx="5394960" cy="5074920"/>
          </a:xfrm>
          <a:prstGeom prst="roundRect">
            <a:avLst/>
          </a:prstGeom>
          <a:solidFill>
            <a:srgbClr val="F2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2618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55B8B"/>
                </a:solidFill>
              </a:rPr>
              <a:t>Primary Function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48006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Accommodate expansion and contraction caused by temperature and humidity changes.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Accommodate relative movement between superstructure and supporting structure.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Transfer vertical load and associated forces to piers / columns.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Provide the designed degree of freedom for bridge movements.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51560"/>
            <a:ext cx="5394960" cy="5074920"/>
          </a:xfrm>
          <a:prstGeom prst="roundRect">
            <a:avLst/>
          </a:prstGeom>
          <a:solidFill>
            <a:srgbClr val="F2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2618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55B8B"/>
                </a:solidFill>
              </a:rPr>
              <a:t>Bearing Characteristics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006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Strong while retaining flexibility.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Weather resistant as described in the company material.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Economical design with no moving parts.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Low shear stiffness can reduce horizontal force transfer to the substructure.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Durable / maintenance-free characteristics are stated in the company brochure.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Bearing Construction &amp;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37D"/>
                </a:solidFill>
                <a:latin typeface="Aptos"/>
              </a:rPr>
              <a:t>POLYMER PRODUCTS  |  Technical Presentation  | 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B32"/>
                </a:solidFill>
                <a:latin typeface="Aptos"/>
              </a:defRPr>
            </a:pPr>
            <a:r>
              <a:t>• Elastomeric bridge bearings consist of layers of rubber compound integrally bonded to steel plates.</a:t>
            </a:r>
          </a:p>
          <a:p>
            <a:pPr>
              <a:spcAft>
                <a:spcPts val="1000"/>
              </a:spcAft>
              <a:defRPr sz="2100">
                <a:solidFill>
                  <a:srgbClr val="232B32"/>
                </a:solidFill>
                <a:latin typeface="Aptos"/>
              </a:defRPr>
            </a:pPr>
            <a:r>
              <a:t>• The rubber compound is described as a designed mix of chloroprene rubber, carbon black, plasticisers, curatives, antidegradants and accelerators.</a:t>
            </a:r>
          </a:p>
          <a:p>
            <a:pPr>
              <a:spcAft>
                <a:spcPts val="1000"/>
              </a:spcAft>
              <a:defRPr sz="2100">
                <a:solidFill>
                  <a:srgbClr val="232B32"/>
                </a:solidFill>
                <a:latin typeface="Aptos"/>
              </a:defRPr>
            </a:pPr>
            <a:r>
              <a:t>• Steel plates are cleaned / treated and shot-blasted to prepare the surface for bonding.</a:t>
            </a:r>
          </a:p>
          <a:p>
            <a:pPr>
              <a:spcAft>
                <a:spcPts val="1000"/>
              </a:spcAft>
              <a:defRPr sz="2100">
                <a:solidFill>
                  <a:srgbClr val="232B32"/>
                </a:solidFill>
                <a:latin typeface="Aptos"/>
              </a:defRPr>
            </a:pPr>
            <a:r>
              <a:t>• Required bearing shape and dimensions are obtained during the vulcanization process.</a:t>
            </a:r>
          </a:p>
          <a:p>
            <a:pPr>
              <a:spcAft>
                <a:spcPts val="1000"/>
              </a:spcAft>
              <a:defRPr sz="2100">
                <a:solidFill>
                  <a:srgbClr val="232B32"/>
                </a:solidFill>
                <a:latin typeface="Aptos"/>
              </a:defRPr>
            </a:pPr>
            <a:r>
              <a:t>• The credential states that raw materials and their ratios are controlled from mixing through final moulding.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Applicable Standards &amp; Approvals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37D"/>
                </a:solidFill>
                <a:latin typeface="Aptos"/>
              </a:rPr>
              <a:t>POLYMER PRODUCTS  |  Technical Presentation  | 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51560"/>
            <a:ext cx="5394960" cy="5074920"/>
          </a:xfrm>
          <a:prstGeom prst="roundRect">
            <a:avLst/>
          </a:prstGeom>
          <a:solidFill>
            <a:srgbClr val="F2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2618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55B8B"/>
                </a:solidFill>
              </a:rPr>
              <a:t>Approvals / Qualifications in Credential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48006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MORTH – pre-qualification / approval for Elastomeric (Neoprene) bearings is stated.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RDSO – approval for supply of Elastomeric bearings is stated.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RDSO letter dated 06.04.2023 confirms continuation in the RDSO approved list after compliance of revised STR and physical verification.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ISO and CE certificates are included in the credential package.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51560"/>
            <a:ext cx="5394960" cy="5074920"/>
          </a:xfrm>
          <a:prstGeom prst="roundRect">
            <a:avLst/>
          </a:prstGeom>
          <a:solidFill>
            <a:srgbClr val="F2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2618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55B8B"/>
                </a:solidFill>
              </a:rPr>
              <a:t>Standards Referenced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00600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rPr dirty="0"/>
              <a:t>• IRC specifications are referenced in the Quality Assurance Plan.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rPr dirty="0"/>
              <a:t>• IRC:83 Part (II) – </a:t>
            </a:r>
            <a:r>
              <a:rPr lang="en-US" dirty="0"/>
              <a:t>2018</a:t>
            </a:r>
            <a:r>
              <a:rPr dirty="0"/>
              <a:t> is repeatedly referenced in the QAP for rubber, steel and finished bearing tests.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rPr dirty="0"/>
              <a:t>• The company brochure states bearings are </a:t>
            </a:r>
            <a:r>
              <a:rPr dirty="0" err="1"/>
              <a:t>moulded</a:t>
            </a:r>
            <a:r>
              <a:rPr dirty="0"/>
              <a:t> to conform to applicable MORTH, IRC and DIC requirements.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rPr dirty="0"/>
              <a:t>• Project-specific specifications and approved drawings should govern each order.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RDSO Approval – Credential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37D"/>
                </a:solidFill>
                <a:latin typeface="Aptos"/>
              </a:rPr>
              <a:t>POLYMER PRODUCTS  |  Technical Presentation  |  8</a:t>
            </a:r>
          </a:p>
        </p:txBody>
      </p:sp>
      <p:pic>
        <p:nvPicPr>
          <p:cNvPr id="5" name="Picture 4" descr="_pp_pag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1097280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Manufacturing Process – Controlled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37D"/>
                </a:solidFill>
                <a:latin typeface="Aptos"/>
              </a:rPr>
              <a:t>POLYMER PRODUCTS  |  Technical Presentation  | 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5166360" cy="713232"/>
          </a:xfrm>
          <a:prstGeom prst="roundRect">
            <a:avLst/>
          </a:prstGeom>
          <a:solidFill>
            <a:srgbClr val="F2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1252728"/>
            <a:ext cx="475488" cy="475488"/>
          </a:xfrm>
          <a:prstGeom prst="ellipse">
            <a:avLst/>
          </a:prstGeom>
          <a:solidFill>
            <a:srgbClr val="255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1252728"/>
            <a:ext cx="4206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32B32"/>
                </a:solidFill>
              </a:rPr>
              <a:t>Raw material scrutiny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166360" cy="713232"/>
          </a:xfrm>
          <a:prstGeom prst="roundRect">
            <a:avLst/>
          </a:prstGeom>
          <a:solidFill>
            <a:srgbClr val="F2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373368" y="1252728"/>
            <a:ext cx="475488" cy="475488"/>
          </a:xfrm>
          <a:prstGeom prst="ellipse">
            <a:avLst/>
          </a:prstGeom>
          <a:solidFill>
            <a:srgbClr val="255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3448" y="1252728"/>
            <a:ext cx="4206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32B32"/>
                </a:solidFill>
              </a:rPr>
              <a:t>Rubber compound mixing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03120"/>
            <a:ext cx="5166360" cy="713232"/>
          </a:xfrm>
          <a:prstGeom prst="roundRect">
            <a:avLst/>
          </a:prstGeom>
          <a:solidFill>
            <a:srgbClr val="F2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49808" y="2212848"/>
            <a:ext cx="475488" cy="475488"/>
          </a:xfrm>
          <a:prstGeom prst="ellipse">
            <a:avLst/>
          </a:prstGeom>
          <a:solidFill>
            <a:srgbClr val="255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212848"/>
            <a:ext cx="4206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32B32"/>
                </a:solidFill>
              </a:rPr>
              <a:t>Compound testing / batch control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103120"/>
            <a:ext cx="5166360" cy="713232"/>
          </a:xfrm>
          <a:prstGeom prst="roundRect">
            <a:avLst/>
          </a:prstGeom>
          <a:solidFill>
            <a:srgbClr val="F2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73368" y="2212848"/>
            <a:ext cx="475488" cy="475488"/>
          </a:xfrm>
          <a:prstGeom prst="ellipse">
            <a:avLst/>
          </a:prstGeom>
          <a:solidFill>
            <a:srgbClr val="255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3448" y="2212848"/>
            <a:ext cx="4206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32B32"/>
                </a:solidFill>
              </a:rPr>
              <a:t>Steel plate preparation &amp; shot blasting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063240"/>
            <a:ext cx="5166360" cy="713232"/>
          </a:xfrm>
          <a:prstGeom prst="roundRect">
            <a:avLst/>
          </a:prstGeom>
          <a:solidFill>
            <a:srgbClr val="F2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49808" y="3172968"/>
            <a:ext cx="475488" cy="475488"/>
          </a:xfrm>
          <a:prstGeom prst="ellipse">
            <a:avLst/>
          </a:prstGeom>
          <a:solidFill>
            <a:srgbClr val="255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172968"/>
            <a:ext cx="4206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32B32"/>
                </a:solidFill>
              </a:rPr>
              <a:t>Bonding / assembly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063240"/>
            <a:ext cx="5166360" cy="713232"/>
          </a:xfrm>
          <a:prstGeom prst="roundRect">
            <a:avLst/>
          </a:prstGeom>
          <a:solidFill>
            <a:srgbClr val="F2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73368" y="3172968"/>
            <a:ext cx="475488" cy="475488"/>
          </a:xfrm>
          <a:prstGeom prst="ellipse">
            <a:avLst/>
          </a:prstGeom>
          <a:solidFill>
            <a:srgbClr val="255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3448" y="3172968"/>
            <a:ext cx="4206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32B32"/>
                </a:solidFill>
              </a:rPr>
              <a:t>Moulding &amp; vulcanization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023360"/>
            <a:ext cx="5166360" cy="713232"/>
          </a:xfrm>
          <a:prstGeom prst="roundRect">
            <a:avLst/>
          </a:prstGeom>
          <a:solidFill>
            <a:srgbClr val="F2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255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4133088"/>
            <a:ext cx="4206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32B32"/>
                </a:solidFill>
              </a:rPr>
              <a:t>Finishing &amp; dimensional inspection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023360"/>
            <a:ext cx="5166360" cy="713232"/>
          </a:xfrm>
          <a:prstGeom prst="roundRect">
            <a:avLst/>
          </a:prstGeom>
          <a:solidFill>
            <a:srgbClr val="F2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373368" y="4133088"/>
            <a:ext cx="475488" cy="475488"/>
          </a:xfrm>
          <a:prstGeom prst="ellipse">
            <a:avLst/>
          </a:prstGeom>
          <a:solidFill>
            <a:srgbClr val="255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4133088"/>
            <a:ext cx="4206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32B32"/>
                </a:solidFill>
              </a:rPr>
              <a:t>Finished bearing testing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983480"/>
            <a:ext cx="5166360" cy="713232"/>
          </a:xfrm>
          <a:prstGeom prst="roundRect">
            <a:avLst/>
          </a:prstGeom>
          <a:solidFill>
            <a:srgbClr val="F2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49808" y="5093208"/>
            <a:ext cx="475488" cy="475488"/>
          </a:xfrm>
          <a:prstGeom prst="ellipse">
            <a:avLst/>
          </a:prstGeom>
          <a:solidFill>
            <a:srgbClr val="255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9888" y="5093208"/>
            <a:ext cx="4206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32B32"/>
                </a:solidFill>
              </a:rPr>
              <a:t>Identification / traceability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4983480"/>
            <a:ext cx="5166360" cy="713232"/>
          </a:xfrm>
          <a:prstGeom prst="roundRect">
            <a:avLst/>
          </a:prstGeom>
          <a:solidFill>
            <a:srgbClr val="F2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373368" y="5093208"/>
            <a:ext cx="475488" cy="475488"/>
          </a:xfrm>
          <a:prstGeom prst="ellipse">
            <a:avLst/>
          </a:prstGeom>
          <a:solidFill>
            <a:srgbClr val="255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13448" y="5093208"/>
            <a:ext cx="4206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32B32"/>
                </a:solidFill>
              </a:rPr>
              <a:t>Packing &amp; controlled dispatch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Manufacturing Capacity &amp; Plant Facilities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37D"/>
                </a:solidFill>
                <a:latin typeface="Aptos"/>
              </a:rPr>
              <a:t>POLYMER PRODUCTS  |  Technical Presentation  | 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51560"/>
            <a:ext cx="5394960" cy="5074920"/>
          </a:xfrm>
          <a:prstGeom prst="roundRect">
            <a:avLst/>
          </a:prstGeom>
          <a:solidFill>
            <a:srgbClr val="F2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2618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55B8B"/>
                </a:solidFill>
              </a:rPr>
              <a:t>Presses / Manufacturing Equipment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48006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Hydraulic manufacturing presses listed with capacities from 110 Tons to 300 Tons.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Additional 180-Ton presses are listed in the equipment schedule.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750-Ton hydraulic test press with 42 × 42 inch test bed is listed.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300-Ton, 250-Ton, 200-Ton, 180-Ton and 110-Ton presses are listed for bearing manufacture.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51560"/>
            <a:ext cx="5394960" cy="5074920"/>
          </a:xfrm>
          <a:prstGeom prst="roundRect">
            <a:avLst/>
          </a:prstGeom>
          <a:solidFill>
            <a:srgbClr val="F2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2618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55B8B"/>
                </a:solidFill>
              </a:rPr>
              <a:t>Process Equipment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006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Rubber mixing mill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Shot blasting / abrasive blasting equipment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Surface grinder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Bandsaw machine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Welding machine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Moulding and vulcanization equipment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The document states additional moulding machinery and press capacity were added to enhance production capacity.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Testing Laboratory – Major Equipment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37D"/>
                </a:solidFill>
                <a:latin typeface="Aptos"/>
              </a:rPr>
              <a:t>POLYMER PRODUCTS  |  Technical Presentation  |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B32"/>
                </a:solidFill>
                <a:latin typeface="Aptos"/>
              </a:defRPr>
            </a:pPr>
            <a:r>
              <a:t>• 750-Ton hydraulic press – elastic modulus, shear modulus on large-size bearings and ultimate compression.</a:t>
            </a:r>
          </a:p>
          <a:p>
            <a:pPr>
              <a:spcAft>
                <a:spcPts val="1000"/>
              </a:spcAft>
              <a:defRPr sz="1600">
                <a:solidFill>
                  <a:srgbClr val="232B32"/>
                </a:solidFill>
                <a:latin typeface="Aptos"/>
              </a:defRPr>
            </a:pPr>
            <a:r>
              <a:t>• Hydraulic jack – shear modulus testing on large-size bearings.</a:t>
            </a:r>
          </a:p>
          <a:p>
            <a:pPr>
              <a:spcAft>
                <a:spcPts val="1000"/>
              </a:spcAft>
              <a:defRPr sz="1600">
                <a:solidFill>
                  <a:srgbClr val="232B32"/>
                </a:solidFill>
                <a:latin typeface="Aptos"/>
              </a:defRPr>
            </a:pPr>
            <a:r>
              <a:t>• 80-Ton hydraulic jack – bond test.</a:t>
            </a:r>
          </a:p>
          <a:p>
            <a:pPr>
              <a:spcAft>
                <a:spcPts val="1000"/>
              </a:spcAft>
              <a:defRPr sz="1600">
                <a:solidFill>
                  <a:srgbClr val="232B32"/>
                </a:solidFill>
                <a:latin typeface="Aptos"/>
              </a:defRPr>
            </a:pPr>
            <a:r>
              <a:t>• 5,000 N tensile tester – tensile strength, elongation, tear strength and rubber-to-metal adhesion.</a:t>
            </a:r>
          </a:p>
          <a:p>
            <a:pPr>
              <a:spcAft>
                <a:spcPts val="1000"/>
              </a:spcAft>
              <a:defRPr sz="1600">
                <a:solidFill>
                  <a:srgbClr val="232B32"/>
                </a:solidFill>
                <a:latin typeface="Aptos"/>
              </a:defRPr>
            </a:pPr>
            <a:r>
              <a:t>• Oscillating Disc Rheometer – curing characteristics / batch-to-batch rubber compound control.</a:t>
            </a:r>
          </a:p>
          <a:p>
            <a:pPr>
              <a:spcAft>
                <a:spcPts val="1000"/>
              </a:spcAft>
              <a:defRPr sz="1600">
                <a:solidFill>
                  <a:srgbClr val="232B32"/>
                </a:solidFill>
                <a:latin typeface="Aptos"/>
              </a:defRPr>
            </a:pPr>
            <a:r>
              <a:t>• Oven – ageing and compression testing.</a:t>
            </a:r>
          </a:p>
          <a:p>
            <a:pPr>
              <a:spcAft>
                <a:spcPts val="1000"/>
              </a:spcAft>
              <a:defRPr sz="1600">
                <a:solidFill>
                  <a:srgbClr val="232B32"/>
                </a:solidFill>
                <a:latin typeface="Aptos"/>
              </a:defRPr>
            </a:pPr>
            <a:r>
              <a:t>• Hardness testers – hardness measurement.</a:t>
            </a:r>
          </a:p>
          <a:p>
            <a:pPr>
              <a:spcAft>
                <a:spcPts val="1000"/>
              </a:spcAft>
              <a:defRPr sz="1600">
                <a:solidFill>
                  <a:srgbClr val="232B32"/>
                </a:solidFill>
                <a:latin typeface="Aptos"/>
              </a:defRPr>
            </a:pPr>
            <a:r>
              <a:t>• Digital balance – chemical analysis, ash content and specific gravity.</a:t>
            </a:r>
          </a:p>
          <a:p>
            <a:pPr>
              <a:spcAft>
                <a:spcPts val="1000"/>
              </a:spcAft>
              <a:defRPr sz="1600">
                <a:solidFill>
                  <a:srgbClr val="232B32"/>
                </a:solidFill>
                <a:latin typeface="Aptos"/>
              </a:defRPr>
            </a:pPr>
            <a:r>
              <a:t>• Muffle furnace / Soxhlet apparatus – ash and elastomer content.</a:t>
            </a:r>
          </a:p>
          <a:p>
            <a:pPr>
              <a:spcAft>
                <a:spcPts val="1000"/>
              </a:spcAft>
              <a:defRPr sz="1600">
                <a:solidFill>
                  <a:srgbClr val="232B32"/>
                </a:solidFill>
                <a:latin typeface="Aptos"/>
              </a:defRPr>
            </a:pPr>
            <a:r>
              <a:t>• Thickness gauge and other supporting laboratory equipment.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Quality Assurance Plan – Raw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37D"/>
                </a:solidFill>
                <a:latin typeface="Aptos"/>
              </a:rPr>
              <a:t>POLYMER PRODUCTS  |  Technical Presentation  | 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51560"/>
            <a:ext cx="5394960" cy="5074920"/>
          </a:xfrm>
          <a:prstGeom prst="roundRect">
            <a:avLst/>
          </a:prstGeom>
          <a:solidFill>
            <a:srgbClr val="F2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2618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55B8B"/>
                </a:solidFill>
              </a:rPr>
              <a:t>Rubber Component – Per 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4800600" cy="2693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rPr dirty="0"/>
              <a:t>• Tensile strength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rPr dirty="0"/>
              <a:t>• Percentage elongation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rPr dirty="0"/>
              <a:t>• Hardness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rPr dirty="0"/>
              <a:t>• Adhesion strength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rPr dirty="0"/>
              <a:t>• 01 sample per lot is shown in the QAP.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rPr dirty="0"/>
              <a:t>• Reference: IRC:83 Part (II) – </a:t>
            </a:r>
            <a:r>
              <a:rPr lang="en-US" dirty="0"/>
              <a:t>2018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rPr dirty="0"/>
              <a:t>• Testing agency: Manufacturer's Laboratory.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51560"/>
            <a:ext cx="5394960" cy="5074920"/>
          </a:xfrm>
          <a:prstGeom prst="roundRect">
            <a:avLst/>
          </a:prstGeom>
          <a:solidFill>
            <a:srgbClr val="F2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2618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55B8B"/>
                </a:solidFill>
              </a:rPr>
              <a:t>M.S. Plate – Procurement 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00600" cy="2826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rPr dirty="0"/>
              <a:t>• Tensile strength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rPr dirty="0"/>
              <a:t>• Percentage elongation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rPr dirty="0"/>
              <a:t>• One piece per procurement lot is shown in the QAP.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rPr dirty="0"/>
              <a:t>• Reference: IRC:83 Part (II) – </a:t>
            </a:r>
            <a:r>
              <a:rPr lang="en-US" dirty="0"/>
              <a:t>2018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rPr dirty="0"/>
              <a:t>• Testing agency: Independent Laboratory.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rPr dirty="0"/>
              <a:t>• Acceptance criteria are linked to the referenced specification.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Quality Assurance Plan – Finished Bearings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37D"/>
                </a:solidFill>
                <a:latin typeface="Aptos"/>
              </a:rPr>
              <a:t>POLYMER PRODUCTS  |  Technical Presentation  | 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51560"/>
            <a:ext cx="5394960" cy="5074920"/>
          </a:xfrm>
          <a:prstGeom prst="roundRect">
            <a:avLst/>
          </a:prstGeom>
          <a:solidFill>
            <a:srgbClr val="F2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2618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55B8B"/>
                </a:solidFill>
              </a:rPr>
              <a:t>Routine / Finished Bearing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48006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Visual inspection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Dimension check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Hardness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Elastic modulus check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Shear modulus test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Stripping strength test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Ultimate compressive 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51560"/>
            <a:ext cx="5394960" cy="5074920"/>
          </a:xfrm>
          <a:prstGeom prst="roundRect">
            <a:avLst/>
          </a:prstGeom>
          <a:solidFill>
            <a:srgbClr val="F2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2618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55B8B"/>
                </a:solidFill>
              </a:rPr>
              <a:t>Additional Tests in QAP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00600" cy="2436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rPr dirty="0"/>
              <a:t>• Rubber compression test – one sample per lot.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rPr dirty="0"/>
              <a:t>• Rubber ageing test – one sample per lot.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rPr dirty="0"/>
              <a:t>• Axial load testing at 5 MPa and 15 MPa is listed for finished bearings.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rPr dirty="0"/>
              <a:t>• The QAP references IRC:83 Part (II) – </a:t>
            </a:r>
            <a:r>
              <a:rPr lang="en-US" dirty="0"/>
              <a:t>2018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rPr dirty="0"/>
              <a:t>• Manufacturer's laboratory is listed for the finished-bearing tests.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Testing Philosophy &amp; Finished Product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37D"/>
                </a:solidFill>
                <a:latin typeface="Aptos"/>
              </a:rPr>
              <a:t>POLYMER PRODUCTS  |  Technical Presentation  |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B32"/>
                </a:solidFill>
                <a:latin typeface="Aptos"/>
              </a:defRPr>
            </a:pPr>
            <a:r>
              <a:t>• The credential states that essential tests are conducted at both raw-material and finished-product stages.</a:t>
            </a:r>
          </a:p>
          <a:p>
            <a:pPr>
              <a:spcAft>
                <a:spcPts val="1000"/>
              </a:spcAft>
              <a:defRPr sz="2000">
                <a:solidFill>
                  <a:srgbClr val="232B32"/>
                </a:solidFill>
                <a:latin typeface="Aptos"/>
              </a:defRPr>
            </a:pPr>
            <a:r>
              <a:t>• Testing is described as being conducted in line with applicable IRC / DIC specifications.</a:t>
            </a:r>
          </a:p>
          <a:p>
            <a:pPr>
              <a:spcAft>
                <a:spcPts val="1000"/>
              </a:spcAft>
              <a:defRPr sz="2000">
                <a:solidFill>
                  <a:srgbClr val="232B32"/>
                </a:solidFill>
                <a:latin typeface="Aptos"/>
              </a:defRPr>
            </a:pPr>
            <a:r>
              <a:t>• Finished bearing tests listed in the brochure include vertical stress/strain curve, shear modulus, ultimate compression strength and rubber-to-metal bond verification.</a:t>
            </a:r>
          </a:p>
          <a:p>
            <a:pPr>
              <a:spcAft>
                <a:spcPts val="1000"/>
              </a:spcAft>
              <a:defRPr sz="2000">
                <a:solidFill>
                  <a:srgbClr val="232B32"/>
                </a:solidFill>
                <a:latin typeface="Aptos"/>
              </a:defRPr>
            </a:pPr>
            <a:r>
              <a:t>• Testing is performed under the guidance of a Rubber Technologist by experienced personnel.</a:t>
            </a:r>
          </a:p>
          <a:p>
            <a:pPr>
              <a:spcAft>
                <a:spcPts val="1000"/>
              </a:spcAft>
              <a:defRPr sz="2000">
                <a:solidFill>
                  <a:srgbClr val="232B32"/>
                </a:solidFill>
                <a:latin typeface="Aptos"/>
              </a:defRPr>
            </a:pPr>
            <a:r>
              <a:t>• The equipment schedule states testing can be witnessed by DGS&amp;D / RITES / client representatives where applicable.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Traceability, Identification &amp; Quality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37D"/>
                </a:solidFill>
                <a:latin typeface="Aptos"/>
              </a:rPr>
              <a:t>POLYMER PRODUCTS  |  Technical Presentation  | 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B32"/>
                </a:solidFill>
                <a:latin typeface="Aptos"/>
              </a:defRPr>
            </a:pPr>
            <a:r>
              <a:t>• Lot-wise control is established through raw-material and compound testing records.</a:t>
            </a:r>
          </a:p>
          <a:p>
            <a:pPr>
              <a:spcAft>
                <a:spcPts val="1000"/>
              </a:spcAft>
              <a:defRPr sz="2000">
                <a:solidFill>
                  <a:srgbClr val="232B32"/>
                </a:solidFill>
                <a:latin typeface="Aptos"/>
              </a:defRPr>
            </a:pPr>
            <a:r>
              <a:t>• The QAP defines sample frequency, test methods / reference documents, acceptance criteria and testing agency.</a:t>
            </a:r>
          </a:p>
          <a:p>
            <a:pPr>
              <a:spcAft>
                <a:spcPts val="1000"/>
              </a:spcAft>
              <a:defRPr sz="2000">
                <a:solidFill>
                  <a:srgbClr val="232B32"/>
                </a:solidFill>
                <a:latin typeface="Aptos"/>
              </a:defRPr>
            </a:pPr>
            <a:r>
              <a:t>• Finished bearing inspection includes visual and dimensional checks before release.</a:t>
            </a:r>
          </a:p>
          <a:p>
            <a:pPr>
              <a:spcAft>
                <a:spcPts val="1000"/>
              </a:spcAft>
              <a:defRPr sz="2000">
                <a:solidFill>
                  <a:srgbClr val="232B32"/>
                </a:solidFill>
                <a:latin typeface="Aptos"/>
              </a:defRPr>
            </a:pPr>
            <a:r>
              <a:t>• Test results should be linked to the bearing / order identification used for dispatch documentation.</a:t>
            </a:r>
          </a:p>
          <a:p>
            <a:pPr>
              <a:spcAft>
                <a:spcPts val="1000"/>
              </a:spcAft>
              <a:defRPr sz="2000">
                <a:solidFill>
                  <a:srgbClr val="232B32"/>
                </a:solidFill>
                <a:latin typeface="Aptos"/>
              </a:defRPr>
            </a:pPr>
            <a:r>
              <a:t>• For BMC source approval, the project-specific marking and traceability format should be finalized with the approved QAP / ITP.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Project Experience – Selected Credentials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37D"/>
                </a:solidFill>
                <a:latin typeface="Aptos"/>
              </a:rPr>
              <a:t>POLYMER PRODUCTS  |  Technical Presentation  | 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51560"/>
            <a:ext cx="5394960" cy="5074920"/>
          </a:xfrm>
          <a:prstGeom prst="roundRect">
            <a:avLst/>
          </a:prstGeom>
          <a:solidFill>
            <a:srgbClr val="F2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2618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55B8B"/>
                </a:solidFill>
              </a:rPr>
              <a:t>Rail / Metro / Highway Experience Mentioned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48006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Konkan Railways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MTP Railways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NHAI projects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MSRDC flyovers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Railway ROBs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CPWD &amp; PWD flyovers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Bangalore Metro Rail Corporation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51560"/>
            <a:ext cx="5394960" cy="5074920"/>
          </a:xfrm>
          <a:prstGeom prst="roundRect">
            <a:avLst/>
          </a:prstGeom>
          <a:solidFill>
            <a:srgbClr val="F2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2618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55B8B"/>
                </a:solidFill>
              </a:rPr>
              <a:t>Representative Client 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006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Larsen &amp; Toubro Ltd.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Dilip Buildcon Ltd.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Afcons Infrastructure Ltd.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Ashoka Buildcon Pvt. Ltd.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Supreme Infrastructure India Ltd.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ITD Cementation India Ltd.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UP State Bridge Corporation Ltd.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Bihar Pul Nirman Nigam Ltd.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Project Credential – Bangalore Metro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37D"/>
                </a:solidFill>
                <a:latin typeface="Aptos"/>
              </a:rPr>
              <a:t>POLYMER PRODUCTS  |  Technical Presentation  |  17</a:t>
            </a:r>
          </a:p>
        </p:txBody>
      </p:sp>
      <p:pic>
        <p:nvPicPr>
          <p:cNvPr id="5" name="Picture 4" descr="_pp_page_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14400"/>
            <a:ext cx="1083564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Project Credential – Metro Rail Supply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37D"/>
                </a:solidFill>
                <a:latin typeface="Aptos"/>
              </a:rPr>
              <a:t>POLYMER PRODUCTS  |  Technical Presentation  |  18</a:t>
            </a:r>
          </a:p>
        </p:txBody>
      </p:sp>
      <p:pic>
        <p:nvPicPr>
          <p:cNvPr id="5" name="Picture 4" descr="_pp_page_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14400"/>
            <a:ext cx="1083564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Storage, Handling &amp; Transportation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37D"/>
                </a:solidFill>
                <a:latin typeface="Aptos"/>
              </a:rPr>
              <a:t>POLYMER PRODUCTS  |  Technical Presentation  |  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51560"/>
            <a:ext cx="5394960" cy="5074920"/>
          </a:xfrm>
          <a:prstGeom prst="roundRect">
            <a:avLst/>
          </a:prstGeom>
          <a:solidFill>
            <a:srgbClr val="F2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2618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55B8B"/>
                </a:solidFill>
              </a:rPr>
              <a:t>Storage / Handling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48006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Bearings should be protected from contamination with oil, grease and dirt.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Store and handle bearings carefully to prevent mechanical damage.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Maintain proper orientation and avoid impact / deformation during handling.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Protect finished bearing surfaces and identification markings.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51560"/>
            <a:ext cx="5394960" cy="5074920"/>
          </a:xfrm>
          <a:prstGeom prst="roundRect">
            <a:avLst/>
          </a:prstGeom>
          <a:solidFill>
            <a:srgbClr val="F2F6FA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2618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55B8B"/>
                </a:solidFill>
              </a:rPr>
              <a:t>Transportation / Site Receipt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006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Bearings are stated to be packed and transported with care to avoid mechanical damage.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Inspect packaging and bearing condition on receipt.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Record any transit damage before installation.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• Follow project-approved installation procedure and tolerances.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Installation of Elastomeric Bearings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37D"/>
                </a:solidFill>
                <a:latin typeface="Aptos"/>
              </a:rPr>
              <a:t>POLYMER PRODUCTS  |  Technical Presentation  | 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B32"/>
                </a:solidFill>
                <a:latin typeface="Aptos"/>
              </a:defRPr>
            </a:pPr>
            <a:r>
              <a:t>• Bearing installation is described as simple, but proper fixing is essential.</a:t>
            </a:r>
          </a:p>
          <a:p>
            <a:pPr>
              <a:spcAft>
                <a:spcPts val="1000"/>
              </a:spcAft>
              <a:defRPr sz="2000">
                <a:solidFill>
                  <a:srgbClr val="232B32"/>
                </a:solidFill>
                <a:latin typeface="Aptos"/>
              </a:defRPr>
            </a:pPr>
            <a:r>
              <a:t>• Bearings must be placed between true horizontal surfaces within the tolerances specified in the applicable code.</a:t>
            </a:r>
          </a:p>
          <a:p>
            <a:pPr>
              <a:spcAft>
                <a:spcPts val="1000"/>
              </a:spcAft>
              <a:defRPr sz="2000">
                <a:solidFill>
                  <a:srgbClr val="232B32"/>
                </a:solidFill>
                <a:latin typeface="Aptos"/>
              </a:defRPr>
            </a:pPr>
            <a:r>
              <a:t>• The company brochure specifically refers to following IRC-83 (Part-II) installation requirements.</a:t>
            </a:r>
          </a:p>
          <a:p>
            <a:pPr>
              <a:spcAft>
                <a:spcPts val="1000"/>
              </a:spcAft>
              <a:defRPr sz="2000">
                <a:solidFill>
                  <a:srgbClr val="232B32"/>
                </a:solidFill>
                <a:latin typeface="Aptos"/>
              </a:defRPr>
            </a:pPr>
            <a:r>
              <a:t>• For cast-in-place concrete, precast concrete or steel superstructure, the relevant approved installation procedure should be followed.</a:t>
            </a:r>
          </a:p>
          <a:p>
            <a:pPr>
              <a:spcAft>
                <a:spcPts val="1000"/>
              </a:spcAft>
              <a:defRPr sz="2000">
                <a:solidFill>
                  <a:srgbClr val="232B32"/>
                </a:solidFill>
                <a:latin typeface="Aptos"/>
              </a:defRPr>
            </a:pPr>
            <a:r>
              <a:t>• Site cleanliness, correct positioning, level / alignment and protection from contamination are critical.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Why Polymer Products – Technical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37D"/>
                </a:solidFill>
                <a:latin typeface="Aptos"/>
              </a:rPr>
              <a:t>POLYMER PRODUCTS  |  Technical Presentation  | 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B32"/>
                </a:solidFill>
                <a:latin typeface="Aptos"/>
              </a:defRPr>
            </a:pPr>
            <a:r>
              <a:t>• Dedicated elastomeric bearing manufacturing and testing facility at Nashik.</a:t>
            </a:r>
          </a:p>
          <a:p>
            <a:pPr>
              <a:spcAft>
                <a:spcPts val="1000"/>
              </a:spcAft>
              <a:defRPr sz="2000">
                <a:solidFill>
                  <a:srgbClr val="232B32"/>
                </a:solidFill>
                <a:latin typeface="Aptos"/>
              </a:defRPr>
            </a:pPr>
            <a:r>
              <a:t>• Long-standing experience in bridge and infrastructure bearing supply.</a:t>
            </a:r>
          </a:p>
          <a:p>
            <a:pPr>
              <a:spcAft>
                <a:spcPts val="1000"/>
              </a:spcAft>
              <a:defRPr sz="2000">
                <a:solidFill>
                  <a:srgbClr val="232B32"/>
                </a:solidFill>
                <a:latin typeface="Aptos"/>
              </a:defRPr>
            </a:pPr>
            <a:r>
              <a:t>• RDSO approval / continuation documented in the credential package.</a:t>
            </a:r>
          </a:p>
          <a:p>
            <a:pPr>
              <a:spcAft>
                <a:spcPts val="1000"/>
              </a:spcAft>
              <a:defRPr sz="2000">
                <a:solidFill>
                  <a:srgbClr val="232B32"/>
                </a:solidFill>
                <a:latin typeface="Aptos"/>
              </a:defRPr>
            </a:pPr>
            <a:r>
              <a:t>• MORTH approval / pre-qualification stated in the company material.</a:t>
            </a:r>
          </a:p>
          <a:p>
            <a:pPr>
              <a:spcAft>
                <a:spcPts val="1000"/>
              </a:spcAft>
              <a:defRPr sz="2000">
                <a:solidFill>
                  <a:srgbClr val="232B32"/>
                </a:solidFill>
                <a:latin typeface="Aptos"/>
              </a:defRPr>
            </a:pPr>
            <a:r>
              <a:t>• In-house rubber and finished-bearing testing facilities.</a:t>
            </a:r>
          </a:p>
          <a:p>
            <a:pPr>
              <a:spcAft>
                <a:spcPts val="1000"/>
              </a:spcAft>
              <a:defRPr sz="2000">
                <a:solidFill>
                  <a:srgbClr val="232B32"/>
                </a:solidFill>
                <a:latin typeface="Aptos"/>
              </a:defRPr>
            </a:pPr>
            <a:r>
              <a:t>• Documented Quality Assurance Plan with raw-material, in-process and finished-product controls.</a:t>
            </a:r>
          </a:p>
          <a:p>
            <a:pPr>
              <a:spcAft>
                <a:spcPts val="1000"/>
              </a:spcAft>
              <a:defRPr sz="2000">
                <a:solidFill>
                  <a:srgbClr val="232B32"/>
                </a:solidFill>
                <a:latin typeface="Aptos"/>
              </a:defRPr>
            </a:pPr>
            <a:r>
              <a:t>• Experience across rail, road, metro, ROB, flyover and other infrastructure applications.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BMC Presentation – Key Commitments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37D"/>
                </a:solidFill>
                <a:latin typeface="Aptos"/>
              </a:rPr>
              <a:t>POLYMER PRODUCTS  |  Technical Presentation  | 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B32"/>
                </a:solidFill>
                <a:latin typeface="Aptos"/>
              </a:defRPr>
            </a:pPr>
            <a:r>
              <a:t>• Manufacture bearings strictly against approved drawings, specifications and applicable codes.</a:t>
            </a:r>
          </a:p>
          <a:p>
            <a:pPr>
              <a:spcAft>
                <a:spcPts val="1000"/>
              </a:spcAft>
              <a:defRPr sz="2000">
                <a:solidFill>
                  <a:srgbClr val="232B32"/>
                </a:solidFill>
                <a:latin typeface="Aptos"/>
              </a:defRPr>
            </a:pPr>
            <a:r>
              <a:t>• Maintain controlled raw-material and compound quality.</a:t>
            </a:r>
          </a:p>
          <a:p>
            <a:pPr>
              <a:spcAft>
                <a:spcPts val="1000"/>
              </a:spcAft>
              <a:defRPr sz="2000">
                <a:solidFill>
                  <a:srgbClr val="232B32"/>
                </a:solidFill>
                <a:latin typeface="Aptos"/>
              </a:defRPr>
            </a:pPr>
            <a:r>
              <a:t>• Conduct defined inspection and testing before dispatch.</a:t>
            </a:r>
          </a:p>
          <a:p>
            <a:pPr>
              <a:spcAft>
                <a:spcPts val="1000"/>
              </a:spcAft>
              <a:defRPr sz="2000">
                <a:solidFill>
                  <a:srgbClr val="232B32"/>
                </a:solidFill>
                <a:latin typeface="Aptos"/>
              </a:defRPr>
            </a:pPr>
            <a:r>
              <a:t>• Maintain lot-wise documentation and product traceability.</a:t>
            </a:r>
          </a:p>
          <a:p>
            <a:pPr>
              <a:spcAft>
                <a:spcPts val="1000"/>
              </a:spcAft>
              <a:defRPr sz="2000">
                <a:solidFill>
                  <a:srgbClr val="232B32"/>
                </a:solidFill>
                <a:latin typeface="Aptos"/>
              </a:defRPr>
            </a:pPr>
            <a:r>
              <a:t>• Provide required test certificates and quality records.</a:t>
            </a:r>
          </a:p>
          <a:p>
            <a:pPr>
              <a:spcAft>
                <a:spcPts val="1000"/>
              </a:spcAft>
              <a:defRPr sz="2000">
                <a:solidFill>
                  <a:srgbClr val="232B32"/>
                </a:solidFill>
                <a:latin typeface="Aptos"/>
              </a:defRPr>
            </a:pPr>
            <a:r>
              <a:t>• Coordinate with BMC / PMC / Contractor QA/QC representatives for inspection and testing.</a:t>
            </a:r>
          </a:p>
          <a:p>
            <a:pPr>
              <a:spcAft>
                <a:spcPts val="1000"/>
              </a:spcAft>
              <a:defRPr sz="2000">
                <a:solidFill>
                  <a:srgbClr val="232B32"/>
                </a:solidFill>
                <a:latin typeface="Aptos"/>
              </a:defRPr>
            </a:pPr>
            <a:r>
              <a:t>• Ensure proper packing, transportation and site-handling guidance.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37D"/>
                </a:solidFill>
                <a:latin typeface="Aptos"/>
              </a:rPr>
              <a:t>POLYMER PRODUCTS  |  Technical Presentation  | 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14304E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291840"/>
            <a:ext cx="9601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255B8B"/>
                </a:solidFill>
              </a:rPr>
              <a:t>POLYMER PRODUCTS
Manufacturer of Elastomeric Bearings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70916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69737D"/>
                </a:solidFill>
              </a:rPr>
              <a:t>Vashi, Navi Mumbai  |  Manufacturing Works: Satpur, Nashik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1969</Words>
  <Application>Microsoft Office PowerPoint</Application>
  <PresentationFormat>Widescreen</PresentationFormat>
  <Paragraphs>235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TAUSIFKHAN PATHAN</cp:lastModifiedBy>
  <cp:revision>2</cp:revision>
  <dcterms:created xsi:type="dcterms:W3CDTF">2013-01-27T09:14:16Z</dcterms:created>
  <dcterms:modified xsi:type="dcterms:W3CDTF">2026-09-21T07:11:54Z</dcterms:modified>
  <cp:category/>
</cp:coreProperties>
</file>